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Roboto Bold" charset="1" panose="02000000000000000000"/>
      <p:regular r:id="rId24"/>
    </p:embeddedFont>
    <p:embeddedFont>
      <p:font typeface="Roboto" charset="1" panose="02000000000000000000"/>
      <p:regular r:id="rId25"/>
    </p:embeddedFont>
    <p:embeddedFont>
      <p:font typeface="Poppins Bold" charset="1" panose="00000800000000000000"/>
      <p:regular r:id="rId26"/>
    </p:embeddedFont>
    <p:embeddedFont>
      <p:font typeface="Poppins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jpeg" Type="http://schemas.openxmlformats.org/officeDocument/2006/relationships/image"/><Relationship Id="rId5" Target="../media/VAG6EgsGJyg.mp4" Type="http://schemas.openxmlformats.org/officeDocument/2006/relationships/video"/><Relationship Id="rId6" Target="../media/VAG6EgsGJyg.mp4" Type="http://schemas.microsoft.com/office/2007/relationships/media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45659">
            <a:off x="-245507" y="-2394526"/>
            <a:ext cx="18743668" cy="6807554"/>
          </a:xfrm>
          <a:custGeom>
            <a:avLst/>
            <a:gdLst/>
            <a:ahLst/>
            <a:cxnLst/>
            <a:rect r="r" b="b" t="t" l="l"/>
            <a:pathLst>
              <a:path h="6807554" w="18743668">
                <a:moveTo>
                  <a:pt x="0" y="0"/>
                </a:moveTo>
                <a:lnTo>
                  <a:pt x="18743668" y="0"/>
                </a:lnTo>
                <a:lnTo>
                  <a:pt x="18743668" y="6807553"/>
                </a:lnTo>
                <a:lnTo>
                  <a:pt x="0" y="6807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817707" y="6427174"/>
            <a:ext cx="19050436" cy="403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  <a:spcBef>
                <a:spcPct val="0"/>
              </a:spcBef>
            </a:pPr>
            <a:r>
              <a:rPr lang="en-US" b="true" sz="2651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CLOTHING CLASSIFICATION, SKIN UNDERTONE DETECTION, AND MOOD-BASED RECOMMENDATIONS.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9980" y="9210675"/>
            <a:ext cx="1141760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43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Presented By: Jumanah Al-Nahdi-Aseel Bajaber- Jwdee Alamam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9980" y="3306140"/>
            <a:ext cx="11865414" cy="239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5731" b="true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MoodCloset:</a:t>
            </a:r>
          </a:p>
          <a:p>
            <a:pPr algn="l" marL="0" indent="0" lvl="0">
              <a:lnSpc>
                <a:spcPts val="5959"/>
              </a:lnSpc>
            </a:pPr>
            <a:r>
              <a:rPr lang="en-US" sz="5182">
                <a:solidFill>
                  <a:srgbClr val="BF115A"/>
                </a:solidFill>
                <a:latin typeface="Poppins"/>
                <a:ea typeface="Poppins"/>
                <a:cs typeface="Poppins"/>
                <a:sym typeface="Poppins"/>
              </a:rPr>
              <a:t>A Multi-Stage AI System for Personalized Outfit Generation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41100" y="-2381250"/>
            <a:ext cx="10823451" cy="7161848"/>
          </a:xfrm>
          <a:custGeom>
            <a:avLst/>
            <a:gdLst/>
            <a:ahLst/>
            <a:cxnLst/>
            <a:rect r="r" b="b" t="t" l="l"/>
            <a:pathLst>
              <a:path h="7161848" w="10823451">
                <a:moveTo>
                  <a:pt x="0" y="0"/>
                </a:moveTo>
                <a:lnTo>
                  <a:pt x="10823450" y="0"/>
                </a:lnTo>
                <a:lnTo>
                  <a:pt x="10823450" y="7161848"/>
                </a:lnTo>
                <a:lnTo>
                  <a:pt x="0" y="7161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0763" y="2963228"/>
            <a:ext cx="10908664" cy="129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Table of Content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32600" y="4907280"/>
            <a:ext cx="4938064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Introduction &amp; Problem Definition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5493477" y="4675823"/>
            <a:ext cx="971618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48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32600" y="6157912"/>
            <a:ext cx="408281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Methodology &amp;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93477" y="5926455"/>
            <a:ext cx="971618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48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32600" y="7408545"/>
            <a:ext cx="408281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Implementation Details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93477" y="7177087"/>
            <a:ext cx="971618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48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32600" y="8659177"/>
            <a:ext cx="408281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Results &amp; Evaluation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93477" y="8427720"/>
            <a:ext cx="971618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48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76487" y="4907280"/>
            <a:ext cx="4082813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Discussion, Limitations &amp; Future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37364" y="4675822"/>
            <a:ext cx="971618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48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76487" y="6157912"/>
            <a:ext cx="408281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Live Demo &amp; Q&amp;A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37364" y="5926455"/>
            <a:ext cx="971618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9"/>
              </a:lnSpc>
            </a:pPr>
            <a:r>
              <a:rPr lang="en-US" sz="48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28435">
            <a:off x="8263011" y="-915122"/>
            <a:ext cx="11588629" cy="4192977"/>
          </a:xfrm>
          <a:custGeom>
            <a:avLst/>
            <a:gdLst/>
            <a:ahLst/>
            <a:cxnLst/>
            <a:rect r="r" b="b" t="t" l="l"/>
            <a:pathLst>
              <a:path h="4192977" w="11588629">
                <a:moveTo>
                  <a:pt x="0" y="0"/>
                </a:moveTo>
                <a:lnTo>
                  <a:pt x="11588629" y="0"/>
                </a:lnTo>
                <a:lnTo>
                  <a:pt x="11588629" y="4192977"/>
                </a:lnTo>
                <a:lnTo>
                  <a:pt x="0" y="419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18856" y="1895611"/>
            <a:ext cx="5609879" cy="163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7"/>
              </a:lnSpc>
              <a:spcBef>
                <a:spcPct val="0"/>
              </a:spcBef>
            </a:pPr>
            <a:r>
              <a:rPr lang="en-US" b="true" sz="4583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and Problem Definition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18856" y="3906706"/>
            <a:ext cx="9402865" cy="5460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 Gap in Fashion AI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Existing fashion recommendation systems often rely solely     on text-based preferences or purchase history.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They fail to integrate crucial physical (Skin Undertone) and emotional (Mood) user variables.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MoodCloset is a Hybrid AI System designed to fill this gap.</a:t>
            </a:r>
          </a:p>
          <a:p>
            <a:pPr algn="l">
              <a:lnSpc>
                <a:spcPts val="434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3949989">
            <a:off x="-6317791" y="2576508"/>
            <a:ext cx="17519536" cy="6338887"/>
          </a:xfrm>
          <a:custGeom>
            <a:avLst/>
            <a:gdLst/>
            <a:ahLst/>
            <a:cxnLst/>
            <a:rect r="r" b="b" t="t" l="l"/>
            <a:pathLst>
              <a:path h="6338887" w="17519536">
                <a:moveTo>
                  <a:pt x="0" y="0"/>
                </a:moveTo>
                <a:lnTo>
                  <a:pt x="17519536" y="0"/>
                </a:lnTo>
                <a:lnTo>
                  <a:pt x="17519536" y="6338887"/>
                </a:lnTo>
                <a:lnTo>
                  <a:pt x="0" y="6338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28435">
            <a:off x="8263011" y="-915122"/>
            <a:ext cx="11588629" cy="4192977"/>
          </a:xfrm>
          <a:custGeom>
            <a:avLst/>
            <a:gdLst/>
            <a:ahLst/>
            <a:cxnLst/>
            <a:rect r="r" b="b" t="t" l="l"/>
            <a:pathLst>
              <a:path h="4192977" w="11588629">
                <a:moveTo>
                  <a:pt x="0" y="0"/>
                </a:moveTo>
                <a:lnTo>
                  <a:pt x="11588629" y="0"/>
                </a:lnTo>
                <a:lnTo>
                  <a:pt x="11588629" y="4192977"/>
                </a:lnTo>
                <a:lnTo>
                  <a:pt x="0" y="419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42334"/>
            <a:ext cx="5609879" cy="163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7"/>
              </a:lnSpc>
              <a:spcBef>
                <a:spcPct val="0"/>
              </a:spcBef>
            </a:pPr>
            <a:r>
              <a:rPr lang="en-US" b="true" sz="4583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 and Problem Definition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27561"/>
            <a:ext cx="14353179" cy="6891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9"/>
              </a:lnSpc>
            </a:pPr>
            <a:r>
              <a:rPr lang="en-US" sz="2899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MoodCloset Solution: The Project Objectives</a:t>
            </a:r>
          </a:p>
          <a:p>
            <a:pPr algn="l">
              <a:lnSpc>
                <a:spcPts val="4639"/>
              </a:lnSpc>
            </a:pPr>
          </a:p>
          <a:p>
            <a:pPr algn="l">
              <a:lnSpc>
                <a:spcPts val="4639"/>
              </a:lnSpc>
            </a:pPr>
            <a:r>
              <a:rPr lang="en-US" sz="28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The system integrates Visual Classification, Color Science, and Psychological Mood Mapping to provide personalized recommendations. Our objectives are to:</a:t>
            </a:r>
          </a:p>
          <a:p>
            <a:pPr algn="l">
              <a:lnSpc>
                <a:spcPts val="4639"/>
              </a:lnSpc>
            </a:pPr>
          </a:p>
          <a:p>
            <a:pPr algn="l">
              <a:lnSpc>
                <a:spcPts val="5393"/>
              </a:lnSpc>
            </a:pPr>
            <a:r>
              <a:rPr lang="en-US" sz="28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1. Accurately Classify uploaded clothing items using deep learning.</a:t>
            </a:r>
          </a:p>
          <a:p>
            <a:pPr algn="l">
              <a:lnSpc>
                <a:spcPts val="5393"/>
              </a:lnSpc>
            </a:pPr>
            <a:r>
              <a:rPr lang="en-US" sz="28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2. Detect the user's skin undertone (Warm, Cool, Neutral).</a:t>
            </a:r>
          </a:p>
          <a:p>
            <a:pPr algn="l">
              <a:lnSpc>
                <a:spcPts val="5393"/>
              </a:lnSpc>
            </a:pPr>
            <a:r>
              <a:rPr lang="en-US" sz="28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3. Extract dominant colors from the item image.</a:t>
            </a:r>
          </a:p>
          <a:p>
            <a:pPr algn="l">
              <a:lnSpc>
                <a:spcPts val="5393"/>
              </a:lnSpc>
            </a:pPr>
            <a:r>
              <a:rPr lang="en-US" sz="28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4. Map user-selected mood to a suitable color palette.</a:t>
            </a:r>
          </a:p>
          <a:p>
            <a:pPr algn="l">
              <a:lnSpc>
                <a:spcPts val="5393"/>
              </a:lnSpc>
            </a:pPr>
            <a:r>
              <a:rPr lang="en-US" sz="28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5. Generate a complete, tailored outfit recommendation.</a:t>
            </a:r>
          </a:p>
          <a:p>
            <a:pPr algn="l">
              <a:lnSpc>
                <a:spcPts val="5393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7827" y="4579457"/>
            <a:ext cx="4641741" cy="7453033"/>
          </a:xfrm>
          <a:custGeom>
            <a:avLst/>
            <a:gdLst/>
            <a:ahLst/>
            <a:cxnLst/>
            <a:rect r="r" b="b" t="t" l="l"/>
            <a:pathLst>
              <a:path h="7453033" w="4641741">
                <a:moveTo>
                  <a:pt x="0" y="0"/>
                </a:moveTo>
                <a:lnTo>
                  <a:pt x="4641741" y="0"/>
                </a:lnTo>
                <a:lnTo>
                  <a:pt x="4641741" y="7453033"/>
                </a:lnTo>
                <a:lnTo>
                  <a:pt x="0" y="7453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68452" y="-1430664"/>
            <a:ext cx="6052126" cy="4918728"/>
          </a:xfrm>
          <a:custGeom>
            <a:avLst/>
            <a:gdLst/>
            <a:ahLst/>
            <a:cxnLst/>
            <a:rect r="r" b="b" t="t" l="l"/>
            <a:pathLst>
              <a:path h="4918728" w="6052126">
                <a:moveTo>
                  <a:pt x="0" y="0"/>
                </a:moveTo>
                <a:lnTo>
                  <a:pt x="6052126" y="0"/>
                </a:lnTo>
                <a:lnTo>
                  <a:pt x="6052126" y="4918728"/>
                </a:lnTo>
                <a:lnTo>
                  <a:pt x="0" y="49187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562327" y="3728544"/>
            <a:ext cx="2425323" cy="633317"/>
            <a:chOff x="0" y="0"/>
            <a:chExt cx="638768" cy="166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8768" cy="166799"/>
            </a:xfrm>
            <a:custGeom>
              <a:avLst/>
              <a:gdLst/>
              <a:ahLst/>
              <a:cxnLst/>
              <a:rect r="r" b="b" t="t" l="l"/>
              <a:pathLst>
                <a:path h="166799" w="638768">
                  <a:moveTo>
                    <a:pt x="35113" y="0"/>
                  </a:moveTo>
                  <a:lnTo>
                    <a:pt x="603655" y="0"/>
                  </a:lnTo>
                  <a:cubicBezTo>
                    <a:pt x="623047" y="0"/>
                    <a:pt x="638768" y="15721"/>
                    <a:pt x="638768" y="35113"/>
                  </a:cubicBezTo>
                  <a:lnTo>
                    <a:pt x="638768" y="131686"/>
                  </a:lnTo>
                  <a:cubicBezTo>
                    <a:pt x="638768" y="140999"/>
                    <a:pt x="635069" y="149930"/>
                    <a:pt x="628484" y="156515"/>
                  </a:cubicBezTo>
                  <a:cubicBezTo>
                    <a:pt x="621899" y="163100"/>
                    <a:pt x="612967" y="166799"/>
                    <a:pt x="603655" y="166799"/>
                  </a:cubicBezTo>
                  <a:lnTo>
                    <a:pt x="35113" y="166799"/>
                  </a:lnTo>
                  <a:cubicBezTo>
                    <a:pt x="25801" y="166799"/>
                    <a:pt x="16869" y="163100"/>
                    <a:pt x="10284" y="156515"/>
                  </a:cubicBezTo>
                  <a:cubicBezTo>
                    <a:pt x="3699" y="149930"/>
                    <a:pt x="0" y="140999"/>
                    <a:pt x="0" y="131686"/>
                  </a:cubicBezTo>
                  <a:lnTo>
                    <a:pt x="0" y="35113"/>
                  </a:lnTo>
                  <a:cubicBezTo>
                    <a:pt x="0" y="25801"/>
                    <a:pt x="3699" y="16869"/>
                    <a:pt x="10284" y="10284"/>
                  </a:cubicBezTo>
                  <a:cubicBezTo>
                    <a:pt x="16869" y="3699"/>
                    <a:pt x="25801" y="0"/>
                    <a:pt x="35113" y="0"/>
                  </a:cubicBezTo>
                  <a:close/>
                </a:path>
              </a:pathLst>
            </a:custGeom>
            <a:solidFill>
              <a:srgbClr val="BF115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638768" cy="271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215722" y="112128"/>
            <a:ext cx="8069475" cy="2622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4910" b="true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Architecture (The 3-Stage AI Pipeline)</a:t>
            </a:r>
          </a:p>
          <a:p>
            <a:pPr algn="ctr">
              <a:lnSpc>
                <a:spcPts val="6874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568278" y="1960817"/>
            <a:ext cx="11996912" cy="49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sz="25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MoodCloset operates through a clear three-stage pipeline: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7720" y="5203344"/>
            <a:ext cx="392387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839"/>
              </a:lnSpc>
              <a:buAutoNum type="arabicPeriod" startAt="1"/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Clothing Classification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77383" y="3728544"/>
            <a:ext cx="2425323" cy="633317"/>
            <a:chOff x="0" y="0"/>
            <a:chExt cx="638768" cy="1667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8768" cy="166799"/>
            </a:xfrm>
            <a:custGeom>
              <a:avLst/>
              <a:gdLst/>
              <a:ahLst/>
              <a:cxnLst/>
              <a:rect r="r" b="b" t="t" l="l"/>
              <a:pathLst>
                <a:path h="166799" w="638768">
                  <a:moveTo>
                    <a:pt x="35113" y="0"/>
                  </a:moveTo>
                  <a:lnTo>
                    <a:pt x="603655" y="0"/>
                  </a:lnTo>
                  <a:cubicBezTo>
                    <a:pt x="623047" y="0"/>
                    <a:pt x="638768" y="15721"/>
                    <a:pt x="638768" y="35113"/>
                  </a:cubicBezTo>
                  <a:lnTo>
                    <a:pt x="638768" y="131686"/>
                  </a:lnTo>
                  <a:cubicBezTo>
                    <a:pt x="638768" y="140999"/>
                    <a:pt x="635069" y="149930"/>
                    <a:pt x="628484" y="156515"/>
                  </a:cubicBezTo>
                  <a:cubicBezTo>
                    <a:pt x="621899" y="163100"/>
                    <a:pt x="612967" y="166799"/>
                    <a:pt x="603655" y="166799"/>
                  </a:cubicBezTo>
                  <a:lnTo>
                    <a:pt x="35113" y="166799"/>
                  </a:lnTo>
                  <a:cubicBezTo>
                    <a:pt x="25801" y="166799"/>
                    <a:pt x="16869" y="163100"/>
                    <a:pt x="10284" y="156515"/>
                  </a:cubicBezTo>
                  <a:cubicBezTo>
                    <a:pt x="3699" y="149930"/>
                    <a:pt x="0" y="140999"/>
                    <a:pt x="0" y="131686"/>
                  </a:cubicBezTo>
                  <a:lnTo>
                    <a:pt x="0" y="35113"/>
                  </a:lnTo>
                  <a:cubicBezTo>
                    <a:pt x="0" y="25801"/>
                    <a:pt x="3699" y="16869"/>
                    <a:pt x="10284" y="10284"/>
                  </a:cubicBezTo>
                  <a:cubicBezTo>
                    <a:pt x="16869" y="3699"/>
                    <a:pt x="25801" y="0"/>
                    <a:pt x="35113" y="0"/>
                  </a:cubicBezTo>
                  <a:close/>
                </a:path>
              </a:pathLst>
            </a:custGeom>
            <a:solidFill>
              <a:srgbClr val="BF115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638768" cy="271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08611" y="3727905"/>
            <a:ext cx="1081434" cy="49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b="true" sz="2599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Stage: 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813585" y="3711920"/>
            <a:ext cx="2425323" cy="633317"/>
            <a:chOff x="0" y="0"/>
            <a:chExt cx="638768" cy="1667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8768" cy="166799"/>
            </a:xfrm>
            <a:custGeom>
              <a:avLst/>
              <a:gdLst/>
              <a:ahLst/>
              <a:cxnLst/>
              <a:rect r="r" b="b" t="t" l="l"/>
              <a:pathLst>
                <a:path h="166799" w="638768">
                  <a:moveTo>
                    <a:pt x="35113" y="0"/>
                  </a:moveTo>
                  <a:lnTo>
                    <a:pt x="603655" y="0"/>
                  </a:lnTo>
                  <a:cubicBezTo>
                    <a:pt x="623047" y="0"/>
                    <a:pt x="638768" y="15721"/>
                    <a:pt x="638768" y="35113"/>
                  </a:cubicBezTo>
                  <a:lnTo>
                    <a:pt x="638768" y="131686"/>
                  </a:lnTo>
                  <a:cubicBezTo>
                    <a:pt x="638768" y="140999"/>
                    <a:pt x="635069" y="149930"/>
                    <a:pt x="628484" y="156515"/>
                  </a:cubicBezTo>
                  <a:cubicBezTo>
                    <a:pt x="621899" y="163100"/>
                    <a:pt x="612967" y="166799"/>
                    <a:pt x="603655" y="166799"/>
                  </a:cubicBezTo>
                  <a:lnTo>
                    <a:pt x="35113" y="166799"/>
                  </a:lnTo>
                  <a:cubicBezTo>
                    <a:pt x="25801" y="166799"/>
                    <a:pt x="16869" y="163100"/>
                    <a:pt x="10284" y="156515"/>
                  </a:cubicBezTo>
                  <a:cubicBezTo>
                    <a:pt x="3699" y="149930"/>
                    <a:pt x="0" y="140999"/>
                    <a:pt x="0" y="131686"/>
                  </a:cubicBezTo>
                  <a:lnTo>
                    <a:pt x="0" y="35113"/>
                  </a:lnTo>
                  <a:cubicBezTo>
                    <a:pt x="0" y="25801"/>
                    <a:pt x="3699" y="16869"/>
                    <a:pt x="10284" y="10284"/>
                  </a:cubicBezTo>
                  <a:cubicBezTo>
                    <a:pt x="16869" y="3699"/>
                    <a:pt x="25801" y="0"/>
                    <a:pt x="35113" y="0"/>
                  </a:cubicBezTo>
                  <a:close/>
                </a:path>
              </a:pathLst>
            </a:custGeom>
            <a:solidFill>
              <a:srgbClr val="BF115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638768" cy="271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813585" y="3727905"/>
            <a:ext cx="1491067" cy="49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9"/>
              </a:lnSpc>
            </a:pPr>
            <a:r>
              <a:rPr lang="en-US" b="true" sz="2599">
                <a:solidFill>
                  <a:srgbClr val="F2F1F1"/>
                </a:solidFill>
                <a:latin typeface="Roboto Bold"/>
                <a:ea typeface="Roboto Bold"/>
                <a:cs typeface="Roboto Bold"/>
                <a:sym typeface="Roboto Bold"/>
              </a:rPr>
              <a:t>Process: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48762" y="3727905"/>
            <a:ext cx="2396323" cy="49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b="true" sz="2599">
                <a:solidFill>
                  <a:srgbClr val="F2F1F1"/>
                </a:solidFill>
                <a:latin typeface="Roboto Bold"/>
                <a:ea typeface="Roboto Bold"/>
                <a:cs typeface="Roboto Bold"/>
                <a:sym typeface="Roboto Bold"/>
              </a:rPr>
              <a:t>Technolog: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13585" y="4535642"/>
            <a:ext cx="4589307" cy="144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The model identifies the type of clothing item uploaded (e.g., Dress, Shirt, Jeans).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7383" y="7178435"/>
            <a:ext cx="4738339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2. Color Processing &amp; User Input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7383" y="9163050"/>
            <a:ext cx="4738339" cy="473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3. Recommendation Engine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13585" y="6388812"/>
            <a:ext cx="4460242" cy="241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a.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 Extracts dominant colors from the item.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b. Detects skin undertone from a user's selfie.</a:t>
            </a: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813585" y="8846820"/>
            <a:ext cx="5084059" cy="144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ombines the outputs of Stage 1&amp; 2 with the user's mood choice.</a:t>
            </a: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1748762" y="4474682"/>
            <a:ext cx="5163760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M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obileNetV2 (Transfer Learning) →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Clothing Category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48762" y="6388812"/>
            <a:ext cx="5163760" cy="1440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K-M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eans Clustering Dominant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Colors (Hex Codes) → Skin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Undertone (Warm/Cool/Neutral)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48762" y="8658225"/>
            <a:ext cx="4042194" cy="1482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Rule-Based Logic → Recommended</a:t>
            </a:r>
          </a:p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Outfit &amp; Colors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628435">
            <a:off x="8263011" y="-915122"/>
            <a:ext cx="11588629" cy="4192977"/>
          </a:xfrm>
          <a:custGeom>
            <a:avLst/>
            <a:gdLst/>
            <a:ahLst/>
            <a:cxnLst/>
            <a:rect r="r" b="b" t="t" l="l"/>
            <a:pathLst>
              <a:path h="4192977" w="11588629">
                <a:moveTo>
                  <a:pt x="0" y="0"/>
                </a:moveTo>
                <a:lnTo>
                  <a:pt x="11588629" y="0"/>
                </a:lnTo>
                <a:lnTo>
                  <a:pt x="11588629" y="4192977"/>
                </a:lnTo>
                <a:lnTo>
                  <a:pt x="0" y="419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7149088" cy="819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7"/>
              </a:lnSpc>
              <a:spcBef>
                <a:spcPct val="0"/>
              </a:spcBef>
            </a:pPr>
            <a:r>
              <a:rPr lang="en-US" b="true" sz="4583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57170"/>
            <a:ext cx="14980423" cy="752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29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The project uses the Small Clothing Dataset, a folder-organized collection of real clothing images across 9 categories (dress, top, jeans, skirt, pants, shirt, sweater, jacket, shorts).</a:t>
            </a:r>
          </a:p>
          <a:p>
            <a:pPr algn="l">
              <a:lnSpc>
                <a:spcPts val="4640"/>
              </a:lnSpc>
            </a:pPr>
            <a:r>
              <a:rPr lang="en-US" sz="29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 Images vary in lighting, angle, and background, making the model more realistic.</a:t>
            </a:r>
          </a:p>
          <a:p>
            <a:pPr algn="l">
              <a:lnSpc>
                <a:spcPts val="4640"/>
              </a:lnSpc>
            </a:pPr>
          </a:p>
          <a:p>
            <a:pPr algn="l">
              <a:lnSpc>
                <a:spcPts val="4640"/>
              </a:lnSpc>
            </a:pPr>
            <a:r>
              <a:rPr lang="en-US" sz="29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Processing Steps:</a:t>
            </a:r>
          </a:p>
          <a:p>
            <a:pPr algn="l" marL="626111" indent="-313055" lvl="1">
              <a:lnSpc>
                <a:spcPts val="4640"/>
              </a:lnSpc>
              <a:buFont typeface="Arial"/>
              <a:buChar char="•"/>
            </a:pPr>
            <a:r>
              <a:rPr lang="en-US" sz="29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Resize to 224×224</a:t>
            </a:r>
          </a:p>
          <a:p>
            <a:pPr algn="l" marL="626111" indent="-313055" lvl="1">
              <a:lnSpc>
                <a:spcPts val="4640"/>
              </a:lnSpc>
              <a:buFont typeface="Arial"/>
              <a:buChar char="•"/>
            </a:pPr>
            <a:r>
              <a:rPr lang="en-US" sz="29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Normalize pixel values</a:t>
            </a:r>
          </a:p>
          <a:p>
            <a:pPr algn="l" marL="626111" indent="-313055" lvl="1">
              <a:lnSpc>
                <a:spcPts val="4640"/>
              </a:lnSpc>
              <a:buFont typeface="Arial"/>
              <a:buChar char="•"/>
            </a:pPr>
            <a:r>
              <a:rPr lang="en-US" sz="29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Generate batches with flow_from_directory</a:t>
            </a:r>
          </a:p>
          <a:p>
            <a:pPr algn="l">
              <a:lnSpc>
                <a:spcPts val="4640"/>
              </a:lnSpc>
            </a:pPr>
          </a:p>
          <a:p>
            <a:pPr algn="l">
              <a:lnSpc>
                <a:spcPts val="4640"/>
              </a:lnSpc>
            </a:pPr>
            <a:r>
              <a:rPr lang="en-US" sz="29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Augmentation:</a:t>
            </a:r>
          </a:p>
          <a:p>
            <a:pPr algn="l">
              <a:lnSpc>
                <a:spcPts val="4640"/>
              </a:lnSpc>
            </a:pPr>
            <a:r>
              <a:rPr lang="en-US" sz="2900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 Rotation, zoom, flips, and shifts to increase model robustness.</a:t>
            </a:r>
          </a:p>
          <a:p>
            <a:pPr algn="l">
              <a:lnSpc>
                <a:spcPts val="4640"/>
              </a:lnSpc>
            </a:pPr>
          </a:p>
          <a:p>
            <a:pPr algn="l">
              <a:lnSpc>
                <a:spcPts val="46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978035" y="5133975"/>
            <a:ext cx="16868724" cy="0"/>
          </a:xfrm>
          <a:prstGeom prst="line">
            <a:avLst/>
          </a:prstGeom>
          <a:ln cap="flat" w="19050">
            <a:solidFill>
              <a:srgbClr val="2F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584935" y="0"/>
            <a:ext cx="5524496" cy="4459775"/>
          </a:xfrm>
          <a:custGeom>
            <a:avLst/>
            <a:gdLst/>
            <a:ahLst/>
            <a:cxnLst/>
            <a:rect r="r" b="b" t="t" l="l"/>
            <a:pathLst>
              <a:path h="4459775" w="5524496">
                <a:moveTo>
                  <a:pt x="0" y="0"/>
                </a:moveTo>
                <a:lnTo>
                  <a:pt x="5524496" y="0"/>
                </a:lnTo>
                <a:lnTo>
                  <a:pt x="5524496" y="4459775"/>
                </a:lnTo>
                <a:lnTo>
                  <a:pt x="0" y="445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05169" y="5638873"/>
            <a:ext cx="5884027" cy="4750015"/>
          </a:xfrm>
          <a:custGeom>
            <a:avLst/>
            <a:gdLst/>
            <a:ahLst/>
            <a:cxnLst/>
            <a:rect r="r" b="b" t="t" l="l"/>
            <a:pathLst>
              <a:path h="4750015" w="5884027">
                <a:moveTo>
                  <a:pt x="0" y="0"/>
                </a:moveTo>
                <a:lnTo>
                  <a:pt x="5884027" y="0"/>
                </a:lnTo>
                <a:lnTo>
                  <a:pt x="5884027" y="4750015"/>
                </a:lnTo>
                <a:lnTo>
                  <a:pt x="0" y="4750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5892" y="638732"/>
            <a:ext cx="9509908" cy="67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8"/>
              </a:lnSpc>
              <a:spcBef>
                <a:spcPct val="0"/>
              </a:spcBef>
            </a:pPr>
            <a:r>
              <a:rPr lang="en-US" b="true" sz="3755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Stage 1 — Data Preparation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5892" y="2546824"/>
            <a:ext cx="6875856" cy="616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386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This stage prepares all clothing images for training.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  <a:r>
              <a:rPr lang="en-US" sz="2386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 dataset is loaded using flow_from_directory, which automatically assigns labels from folder names.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  <a:r>
              <a:rPr lang="en-US" sz="2386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Images are resized to 224×224, normalized, and split into training/validation sets.</a:t>
            </a:r>
          </a:p>
          <a:p>
            <a:pPr algn="l">
              <a:lnSpc>
                <a:spcPts val="3817"/>
              </a:lnSpc>
            </a:pPr>
          </a:p>
          <a:p>
            <a:pPr algn="l">
              <a:lnSpc>
                <a:spcPts val="3817"/>
              </a:lnSpc>
            </a:pPr>
            <a:r>
              <a:rPr lang="en-US" sz="2386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Data augmentation (rotation, zoom, and flipping) increases model generalization.</a:t>
            </a:r>
          </a:p>
          <a:p>
            <a:pPr algn="l">
              <a:lnSpc>
                <a:spcPts val="381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763504" y="421711"/>
            <a:ext cx="5524496" cy="4459775"/>
          </a:xfrm>
          <a:custGeom>
            <a:avLst/>
            <a:gdLst/>
            <a:ahLst/>
            <a:cxnLst/>
            <a:rect r="r" b="b" t="t" l="l"/>
            <a:pathLst>
              <a:path h="4459775" w="5524496">
                <a:moveTo>
                  <a:pt x="0" y="0"/>
                </a:moveTo>
                <a:lnTo>
                  <a:pt x="5524496" y="0"/>
                </a:lnTo>
                <a:lnTo>
                  <a:pt x="5524496" y="4459776"/>
                </a:lnTo>
                <a:lnTo>
                  <a:pt x="0" y="44597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25799" y="138188"/>
            <a:ext cx="6239565" cy="4881487"/>
          </a:xfrm>
          <a:custGeom>
            <a:avLst/>
            <a:gdLst/>
            <a:ahLst/>
            <a:cxnLst/>
            <a:rect r="r" b="b" t="t" l="l"/>
            <a:pathLst>
              <a:path h="4881487" w="6239565">
                <a:moveTo>
                  <a:pt x="0" y="0"/>
                </a:moveTo>
                <a:lnTo>
                  <a:pt x="6239566" y="0"/>
                </a:lnTo>
                <a:lnTo>
                  <a:pt x="6239566" y="4881487"/>
                </a:lnTo>
                <a:lnTo>
                  <a:pt x="0" y="4881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47547" y="5929113"/>
            <a:ext cx="5524496" cy="4459775"/>
          </a:xfrm>
          <a:custGeom>
            <a:avLst/>
            <a:gdLst/>
            <a:ahLst/>
            <a:cxnLst/>
            <a:rect r="r" b="b" t="t" l="l"/>
            <a:pathLst>
              <a:path h="4459775" w="5524496">
                <a:moveTo>
                  <a:pt x="0" y="0"/>
                </a:moveTo>
                <a:lnTo>
                  <a:pt x="5524496" y="0"/>
                </a:lnTo>
                <a:lnTo>
                  <a:pt x="5524496" y="4459775"/>
                </a:lnTo>
                <a:lnTo>
                  <a:pt x="0" y="44597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25799" y="5245723"/>
            <a:ext cx="6239565" cy="4954684"/>
          </a:xfrm>
          <a:custGeom>
            <a:avLst/>
            <a:gdLst/>
            <a:ahLst/>
            <a:cxnLst/>
            <a:rect r="r" b="b" t="t" l="l"/>
            <a:pathLst>
              <a:path h="4954684" w="6239565">
                <a:moveTo>
                  <a:pt x="0" y="0"/>
                </a:moveTo>
                <a:lnTo>
                  <a:pt x="6239566" y="0"/>
                </a:lnTo>
                <a:lnTo>
                  <a:pt x="6239566" y="4954684"/>
                </a:lnTo>
                <a:lnTo>
                  <a:pt x="0" y="495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9443" y="5316131"/>
            <a:ext cx="16611836" cy="0"/>
          </a:xfrm>
          <a:prstGeom prst="line">
            <a:avLst/>
          </a:prstGeom>
          <a:ln cap="flat" w="19050">
            <a:solidFill>
              <a:srgbClr val="2F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23536" y="6218297"/>
            <a:ext cx="5040059" cy="4068703"/>
          </a:xfrm>
          <a:custGeom>
            <a:avLst/>
            <a:gdLst/>
            <a:ahLst/>
            <a:cxnLst/>
            <a:rect r="r" b="b" t="t" l="l"/>
            <a:pathLst>
              <a:path h="4068703" w="5040059">
                <a:moveTo>
                  <a:pt x="0" y="0"/>
                </a:moveTo>
                <a:lnTo>
                  <a:pt x="5040060" y="0"/>
                </a:lnTo>
                <a:lnTo>
                  <a:pt x="5040060" y="4068703"/>
                </a:lnTo>
                <a:lnTo>
                  <a:pt x="0" y="40687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05481" y="5769041"/>
            <a:ext cx="6782519" cy="5475343"/>
          </a:xfrm>
          <a:custGeom>
            <a:avLst/>
            <a:gdLst/>
            <a:ahLst/>
            <a:cxnLst/>
            <a:rect r="r" b="b" t="t" l="l"/>
            <a:pathLst>
              <a:path h="5475343" w="6782519">
                <a:moveTo>
                  <a:pt x="0" y="0"/>
                </a:moveTo>
                <a:lnTo>
                  <a:pt x="6782519" y="0"/>
                </a:lnTo>
                <a:lnTo>
                  <a:pt x="6782519" y="5475343"/>
                </a:lnTo>
                <a:lnTo>
                  <a:pt x="0" y="54753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5769041"/>
            <a:ext cx="6723536" cy="5427727"/>
          </a:xfrm>
          <a:custGeom>
            <a:avLst/>
            <a:gdLst/>
            <a:ahLst/>
            <a:cxnLst/>
            <a:rect r="r" b="b" t="t" l="l"/>
            <a:pathLst>
              <a:path h="5427727" w="6723536">
                <a:moveTo>
                  <a:pt x="0" y="0"/>
                </a:moveTo>
                <a:lnTo>
                  <a:pt x="6723536" y="0"/>
                </a:lnTo>
                <a:lnTo>
                  <a:pt x="6723536" y="5427727"/>
                </a:lnTo>
                <a:lnTo>
                  <a:pt x="0" y="5427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19424" y="5773331"/>
            <a:ext cx="12549406" cy="4235424"/>
          </a:xfrm>
          <a:custGeom>
            <a:avLst/>
            <a:gdLst/>
            <a:ahLst/>
            <a:cxnLst/>
            <a:rect r="r" b="b" t="t" l="l"/>
            <a:pathLst>
              <a:path h="4235424" w="12549406">
                <a:moveTo>
                  <a:pt x="0" y="0"/>
                </a:moveTo>
                <a:lnTo>
                  <a:pt x="12549406" y="0"/>
                </a:lnTo>
                <a:lnTo>
                  <a:pt x="12549406" y="4235425"/>
                </a:lnTo>
                <a:lnTo>
                  <a:pt x="0" y="423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89443" y="305840"/>
            <a:ext cx="12244281" cy="200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8"/>
              </a:lnSpc>
            </a:pPr>
            <a:r>
              <a:rPr lang="en-US" sz="3755" b="true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STAGE 2 — CLOTHING CLASSIFICATION MODEL Model Architecture</a:t>
            </a:r>
          </a:p>
          <a:p>
            <a:pPr algn="l">
              <a:lnSpc>
                <a:spcPts val="525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9443" y="1994787"/>
            <a:ext cx="13945659" cy="286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2578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MobileNetV2 is used for clothing classification through transfer learning.</a:t>
            </a:r>
          </a:p>
          <a:p>
            <a:pPr algn="l">
              <a:lnSpc>
                <a:spcPts val="3790"/>
              </a:lnSpc>
            </a:pPr>
          </a:p>
          <a:p>
            <a:pPr algn="l">
              <a:lnSpc>
                <a:spcPts val="3790"/>
              </a:lnSpc>
            </a:pPr>
            <a:r>
              <a:rPr lang="en-US" sz="2578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 pretrained base is frozen, and custom dense layers are added for 9 clothing categories.</a:t>
            </a:r>
          </a:p>
          <a:p>
            <a:pPr algn="l">
              <a:lnSpc>
                <a:spcPts val="3790"/>
              </a:lnSpc>
            </a:pPr>
          </a:p>
          <a:p>
            <a:pPr algn="l">
              <a:lnSpc>
                <a:spcPts val="3790"/>
              </a:lnSpc>
            </a:pPr>
            <a:r>
              <a:rPr lang="en-US" sz="2578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This creates a lightweight, efficient model suitable for small datasets.</a:t>
            </a:r>
          </a:p>
          <a:p>
            <a:pPr algn="l">
              <a:lnSpc>
                <a:spcPts val="379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980389" y="2485871"/>
            <a:ext cx="9509908" cy="0"/>
          </a:xfrm>
          <a:prstGeom prst="line">
            <a:avLst/>
          </a:prstGeom>
          <a:ln cap="flat" w="19050">
            <a:solidFill>
              <a:srgbClr val="2F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-1814671"/>
            <a:ext cx="8749555" cy="7063277"/>
          </a:xfrm>
          <a:custGeom>
            <a:avLst/>
            <a:gdLst/>
            <a:ahLst/>
            <a:cxnLst/>
            <a:rect r="r" b="b" t="t" l="l"/>
            <a:pathLst>
              <a:path h="7063277" w="8749555">
                <a:moveTo>
                  <a:pt x="0" y="0"/>
                </a:moveTo>
                <a:lnTo>
                  <a:pt x="8749555" y="0"/>
                </a:lnTo>
                <a:lnTo>
                  <a:pt x="8749555" y="7063278"/>
                </a:lnTo>
                <a:lnTo>
                  <a:pt x="0" y="7063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411622"/>
            <a:ext cx="8749555" cy="7063277"/>
          </a:xfrm>
          <a:custGeom>
            <a:avLst/>
            <a:gdLst/>
            <a:ahLst/>
            <a:cxnLst/>
            <a:rect r="r" b="b" t="t" l="l"/>
            <a:pathLst>
              <a:path h="7063277" w="8749555">
                <a:moveTo>
                  <a:pt x="0" y="0"/>
                </a:moveTo>
                <a:lnTo>
                  <a:pt x="8749555" y="0"/>
                </a:lnTo>
                <a:lnTo>
                  <a:pt x="8749555" y="7063277"/>
                </a:lnTo>
                <a:lnTo>
                  <a:pt x="0" y="7063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986951"/>
            <a:ext cx="6739215" cy="4313098"/>
          </a:xfrm>
          <a:custGeom>
            <a:avLst/>
            <a:gdLst/>
            <a:ahLst/>
            <a:cxnLst/>
            <a:rect r="r" b="b" t="t" l="l"/>
            <a:pathLst>
              <a:path h="4313098" w="6739215">
                <a:moveTo>
                  <a:pt x="0" y="0"/>
                </a:moveTo>
                <a:lnTo>
                  <a:pt x="6739215" y="0"/>
                </a:lnTo>
                <a:lnTo>
                  <a:pt x="6739215" y="4313098"/>
                </a:lnTo>
                <a:lnTo>
                  <a:pt x="0" y="4313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0000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319593" y="488668"/>
            <a:ext cx="7086791" cy="200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8"/>
              </a:lnSpc>
            </a:pPr>
            <a:r>
              <a:rPr lang="en-US" sz="3755" b="true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Stage 2</a:t>
            </a:r>
          </a:p>
          <a:p>
            <a:pPr algn="l">
              <a:lnSpc>
                <a:spcPts val="5258"/>
              </a:lnSpc>
            </a:pPr>
            <a:r>
              <a:rPr lang="en-US" sz="3755" b="true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Model Training</a:t>
            </a:r>
          </a:p>
          <a:p>
            <a:pPr algn="l">
              <a:lnSpc>
                <a:spcPts val="525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3559089"/>
            <a:ext cx="6988701" cy="452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3"/>
              </a:lnSpc>
            </a:pPr>
            <a:r>
              <a:rPr lang="en-US" sz="2808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Training is</a:t>
            </a:r>
            <a:r>
              <a:rPr lang="en-US" sz="2808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 performed with model.fit() for multiple epochs.</a:t>
            </a: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  <a:r>
              <a:rPr lang="en-US" sz="2808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 model learns to classify clothing types by adjusting weights using the Adam optimizer (LR = 1e-4).</a:t>
            </a: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</a:p>
          <a:p>
            <a:pPr algn="l">
              <a:lnSpc>
                <a:spcPts val="2893"/>
              </a:lnSpc>
            </a:pPr>
            <a:r>
              <a:rPr lang="en-US" sz="2808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Training and validation accuracy/loss curves help evaluate performance.</a:t>
            </a:r>
          </a:p>
          <a:p>
            <a:pPr algn="l">
              <a:lnSpc>
                <a:spcPts val="483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495593" y="5421147"/>
            <a:ext cx="18490297" cy="0"/>
          </a:xfrm>
          <a:prstGeom prst="line">
            <a:avLst/>
          </a:prstGeom>
          <a:ln cap="flat" w="19050">
            <a:solidFill>
              <a:srgbClr val="2F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00131" y="6010257"/>
            <a:ext cx="8749555" cy="7063277"/>
          </a:xfrm>
          <a:custGeom>
            <a:avLst/>
            <a:gdLst/>
            <a:ahLst/>
            <a:cxnLst/>
            <a:rect r="r" b="b" t="t" l="l"/>
            <a:pathLst>
              <a:path h="7063277" w="8749555">
                <a:moveTo>
                  <a:pt x="0" y="0"/>
                </a:moveTo>
                <a:lnTo>
                  <a:pt x="8749556" y="0"/>
                </a:lnTo>
                <a:lnTo>
                  <a:pt x="8749556" y="7063278"/>
                </a:lnTo>
                <a:lnTo>
                  <a:pt x="0" y="7063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411622"/>
            <a:ext cx="8749555" cy="7063277"/>
          </a:xfrm>
          <a:custGeom>
            <a:avLst/>
            <a:gdLst/>
            <a:ahLst/>
            <a:cxnLst/>
            <a:rect r="r" b="b" t="t" l="l"/>
            <a:pathLst>
              <a:path h="7063277" w="8749555">
                <a:moveTo>
                  <a:pt x="0" y="0"/>
                </a:moveTo>
                <a:lnTo>
                  <a:pt x="8749555" y="0"/>
                </a:lnTo>
                <a:lnTo>
                  <a:pt x="8749555" y="7063277"/>
                </a:lnTo>
                <a:lnTo>
                  <a:pt x="0" y="7063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5594422"/>
            <a:ext cx="11301259" cy="4562883"/>
          </a:xfrm>
          <a:custGeom>
            <a:avLst/>
            <a:gdLst/>
            <a:ahLst/>
            <a:cxnLst/>
            <a:rect r="r" b="b" t="t" l="l"/>
            <a:pathLst>
              <a:path h="4562883" w="11301259">
                <a:moveTo>
                  <a:pt x="0" y="0"/>
                </a:moveTo>
                <a:lnTo>
                  <a:pt x="11301258" y="0"/>
                </a:lnTo>
                <a:lnTo>
                  <a:pt x="11301258" y="4562883"/>
                </a:lnTo>
                <a:lnTo>
                  <a:pt x="0" y="4562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4619" y="305840"/>
            <a:ext cx="7086791" cy="1340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8"/>
              </a:lnSpc>
            </a:pPr>
            <a:r>
              <a:rPr lang="en-US" sz="3755" b="true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Stage 2 Evaluation &amp; Results</a:t>
            </a:r>
          </a:p>
          <a:p>
            <a:pPr algn="l">
              <a:lnSpc>
                <a:spcPts val="525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34619" y="1115127"/>
            <a:ext cx="17753381" cy="4637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661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 model is evaluated using predictions and a confusion matrix.</a:t>
            </a:r>
          </a:p>
          <a:p>
            <a:pPr algn="l">
              <a:lnSpc>
                <a:spcPts val="2741"/>
              </a:lnSpc>
            </a:pPr>
            <a:r>
              <a:rPr lang="en-US" sz="2661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Metrics include:</a:t>
            </a:r>
          </a:p>
          <a:p>
            <a:pPr algn="l">
              <a:lnSpc>
                <a:spcPts val="2741"/>
              </a:lnSpc>
            </a:pPr>
          </a:p>
          <a:p>
            <a:pPr algn="l">
              <a:lnSpc>
                <a:spcPts val="2741"/>
              </a:lnSpc>
            </a:pPr>
            <a:r>
              <a:rPr lang="en-US" sz="2661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Accuracy</a:t>
            </a:r>
          </a:p>
          <a:p>
            <a:pPr algn="l">
              <a:lnSpc>
                <a:spcPts val="2741"/>
              </a:lnSpc>
            </a:pPr>
          </a:p>
          <a:p>
            <a:pPr algn="l">
              <a:lnSpc>
                <a:spcPts val="2741"/>
              </a:lnSpc>
            </a:pPr>
            <a:r>
              <a:rPr lang="en-US" sz="2661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Precision</a:t>
            </a:r>
          </a:p>
          <a:p>
            <a:pPr algn="l">
              <a:lnSpc>
                <a:spcPts val="2741"/>
              </a:lnSpc>
            </a:pPr>
          </a:p>
          <a:p>
            <a:pPr algn="l">
              <a:lnSpc>
                <a:spcPts val="2741"/>
              </a:lnSpc>
            </a:pPr>
            <a:r>
              <a:rPr lang="en-US" sz="2661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Recall</a:t>
            </a:r>
          </a:p>
          <a:p>
            <a:pPr algn="l">
              <a:lnSpc>
                <a:spcPts val="2741"/>
              </a:lnSpc>
            </a:pPr>
          </a:p>
          <a:p>
            <a:pPr algn="l">
              <a:lnSpc>
                <a:spcPts val="2741"/>
              </a:lnSpc>
            </a:pPr>
            <a:r>
              <a:rPr lang="en-US" sz="2661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F1-score</a:t>
            </a:r>
          </a:p>
          <a:p>
            <a:pPr algn="l">
              <a:lnSpc>
                <a:spcPts val="2741"/>
              </a:lnSpc>
            </a:pPr>
          </a:p>
          <a:p>
            <a:pPr algn="l">
              <a:lnSpc>
                <a:spcPts val="2741"/>
              </a:lnSpc>
            </a:pPr>
            <a:r>
              <a:rPr lang="en-US" sz="2661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These metrics confirm that the classifier achieves strong performance on most categories.</a:t>
            </a:r>
          </a:p>
          <a:p>
            <a:pPr algn="l">
              <a:lnSpc>
                <a:spcPts val="4578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131714" y="0"/>
            <a:ext cx="7044387" cy="5686741"/>
          </a:xfrm>
          <a:custGeom>
            <a:avLst/>
            <a:gdLst/>
            <a:ahLst/>
            <a:cxnLst/>
            <a:rect r="r" b="b" t="t" l="l"/>
            <a:pathLst>
              <a:path h="5686741" w="7044387">
                <a:moveTo>
                  <a:pt x="7044387" y="0"/>
                </a:moveTo>
                <a:lnTo>
                  <a:pt x="0" y="0"/>
                </a:lnTo>
                <a:lnTo>
                  <a:pt x="0" y="5686741"/>
                </a:lnTo>
                <a:lnTo>
                  <a:pt x="7044387" y="5686741"/>
                </a:lnTo>
                <a:lnTo>
                  <a:pt x="704438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6" y="2838608"/>
            <a:ext cx="5843165" cy="9525"/>
          </a:xfrm>
          <a:prstGeom prst="line">
            <a:avLst/>
          </a:prstGeom>
          <a:ln cap="flat" w="19050">
            <a:solidFill>
              <a:srgbClr val="2F2E2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080950" y="0"/>
            <a:ext cx="7044387" cy="5686741"/>
          </a:xfrm>
          <a:custGeom>
            <a:avLst/>
            <a:gdLst/>
            <a:ahLst/>
            <a:cxnLst/>
            <a:rect r="r" b="b" t="t" l="l"/>
            <a:pathLst>
              <a:path h="5686741" w="7044387">
                <a:moveTo>
                  <a:pt x="0" y="0"/>
                </a:moveTo>
                <a:lnTo>
                  <a:pt x="7044387" y="0"/>
                </a:lnTo>
                <a:lnTo>
                  <a:pt x="7044387" y="5686741"/>
                </a:lnTo>
                <a:lnTo>
                  <a:pt x="0" y="5686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8087327" y="7060180"/>
            <a:ext cx="7044387" cy="5686741"/>
          </a:xfrm>
          <a:custGeom>
            <a:avLst/>
            <a:gdLst/>
            <a:ahLst/>
            <a:cxnLst/>
            <a:rect r="r" b="b" t="t" l="l"/>
            <a:pathLst>
              <a:path h="5686741" w="7044387">
                <a:moveTo>
                  <a:pt x="7044387" y="5686742"/>
                </a:moveTo>
                <a:lnTo>
                  <a:pt x="0" y="5686742"/>
                </a:lnTo>
                <a:lnTo>
                  <a:pt x="0" y="0"/>
                </a:lnTo>
                <a:lnTo>
                  <a:pt x="7044387" y="0"/>
                </a:lnTo>
                <a:lnTo>
                  <a:pt x="7044387" y="56867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25337" y="5686741"/>
            <a:ext cx="7044387" cy="5686741"/>
          </a:xfrm>
          <a:custGeom>
            <a:avLst/>
            <a:gdLst/>
            <a:ahLst/>
            <a:cxnLst/>
            <a:rect r="r" b="b" t="t" l="l"/>
            <a:pathLst>
              <a:path h="5686741" w="7044387">
                <a:moveTo>
                  <a:pt x="0" y="0"/>
                </a:moveTo>
                <a:lnTo>
                  <a:pt x="7044387" y="0"/>
                </a:lnTo>
                <a:lnTo>
                  <a:pt x="7044387" y="5686742"/>
                </a:lnTo>
                <a:lnTo>
                  <a:pt x="0" y="5686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16919" y="1752254"/>
            <a:ext cx="8760846" cy="7063432"/>
          </a:xfrm>
          <a:custGeom>
            <a:avLst/>
            <a:gdLst/>
            <a:ahLst/>
            <a:cxnLst/>
            <a:rect r="r" b="b" t="t" l="l"/>
            <a:pathLst>
              <a:path h="7063432" w="8760846">
                <a:moveTo>
                  <a:pt x="0" y="0"/>
                </a:moveTo>
                <a:lnTo>
                  <a:pt x="8760846" y="0"/>
                </a:lnTo>
                <a:lnTo>
                  <a:pt x="8760846" y="7063432"/>
                </a:lnTo>
                <a:lnTo>
                  <a:pt x="0" y="7063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8960" y="458470"/>
            <a:ext cx="8849423" cy="200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8"/>
              </a:lnSpc>
            </a:pPr>
            <a:r>
              <a:rPr lang="en-US" sz="3755" b="true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STAGE 3 — DOMINANT COLOR EXTRACTION</a:t>
            </a:r>
          </a:p>
          <a:p>
            <a:pPr algn="l">
              <a:lnSpc>
                <a:spcPts val="5258"/>
              </a:lnSpc>
              <a:spcBef>
                <a:spcPct val="0"/>
              </a:spcBef>
            </a:pPr>
            <a:r>
              <a:rPr lang="en-US" b="true" sz="3755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Color Extraction (K-Means)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8960" y="3440932"/>
            <a:ext cx="6881521" cy="5089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</a:pPr>
          </a:p>
          <a:p>
            <a:pPr algn="l">
              <a:lnSpc>
                <a:spcPts val="4119"/>
              </a:lnSpc>
            </a:pPr>
            <a:r>
              <a:rPr lang="en-US" sz="239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K-M</a:t>
            </a:r>
            <a:r>
              <a:rPr lang="en-US" sz="239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eans clustering is</a:t>
            </a:r>
            <a:r>
              <a:rPr lang="en-US" sz="239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 applied to extract the three dominant colors from the uploaded clothing image.</a:t>
            </a:r>
          </a:p>
          <a:p>
            <a:pPr algn="l">
              <a:lnSpc>
                <a:spcPts val="4119"/>
              </a:lnSpc>
            </a:pPr>
          </a:p>
          <a:p>
            <a:pPr algn="l">
              <a:lnSpc>
                <a:spcPts val="4119"/>
              </a:lnSpc>
            </a:pPr>
            <a:r>
              <a:rPr lang="en-US" sz="239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 image is converted to a NumPy array, flattened, and clustered into 3 color groups.</a:t>
            </a:r>
          </a:p>
          <a:p>
            <a:pPr algn="l">
              <a:lnSpc>
                <a:spcPts val="4119"/>
              </a:lnSpc>
            </a:pPr>
            <a:r>
              <a:rPr lang="en-US" sz="239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Each cluster center is converted to RGB and HEX format.</a:t>
            </a:r>
          </a:p>
          <a:p>
            <a:pPr algn="l">
              <a:lnSpc>
                <a:spcPts val="2945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86839">
            <a:off x="-2717343" y="-641362"/>
            <a:ext cx="13495272" cy="4882835"/>
          </a:xfrm>
          <a:custGeom>
            <a:avLst/>
            <a:gdLst/>
            <a:ahLst/>
            <a:cxnLst/>
            <a:rect r="r" b="b" t="t" l="l"/>
            <a:pathLst>
              <a:path h="4882835" w="13495272">
                <a:moveTo>
                  <a:pt x="0" y="0"/>
                </a:moveTo>
                <a:lnTo>
                  <a:pt x="13495272" y="0"/>
                </a:lnTo>
                <a:lnTo>
                  <a:pt x="13495272" y="4882835"/>
                </a:lnTo>
                <a:lnTo>
                  <a:pt x="0" y="4882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9350" y="1393775"/>
            <a:ext cx="7486301" cy="7130702"/>
          </a:xfrm>
          <a:custGeom>
            <a:avLst/>
            <a:gdLst/>
            <a:ahLst/>
            <a:cxnLst/>
            <a:rect r="r" b="b" t="t" l="l"/>
            <a:pathLst>
              <a:path h="7130702" w="7486301">
                <a:moveTo>
                  <a:pt x="0" y="0"/>
                </a:moveTo>
                <a:lnTo>
                  <a:pt x="7486301" y="0"/>
                </a:lnTo>
                <a:lnTo>
                  <a:pt x="7486301" y="7130702"/>
                </a:lnTo>
                <a:lnTo>
                  <a:pt x="0" y="7130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53172" y="109322"/>
            <a:ext cx="9840177" cy="244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7"/>
              </a:lnSpc>
            </a:pPr>
            <a:r>
              <a:rPr lang="en-US" sz="4583" b="true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STAGE 4 SKIN UNDERTONE DETECTION</a:t>
            </a:r>
          </a:p>
          <a:p>
            <a:pPr algn="l">
              <a:lnSpc>
                <a:spcPts val="6417"/>
              </a:lnSpc>
              <a:spcBef>
                <a:spcPct val="0"/>
              </a:spcBef>
            </a:pPr>
            <a:r>
              <a:rPr lang="en-US" b="true" sz="4583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Undertone Detection Logic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0460" y="2962411"/>
            <a:ext cx="9189523" cy="7034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• K-Means is also applied to the face image to detect the user's undertone.</a:t>
            </a: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</a:t>
            </a: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 algorithm checks which color groups dominate: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Warm: yellow, gold, olive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Cool:</a:t>
            </a: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 pink, red, blue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Neutral: balanced mix</a:t>
            </a: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 undertone is determined by comparing cluster colors to these groups.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65737">
            <a:off x="-2601815" y="-403684"/>
            <a:ext cx="10636943" cy="3848639"/>
          </a:xfrm>
          <a:custGeom>
            <a:avLst/>
            <a:gdLst/>
            <a:ahLst/>
            <a:cxnLst/>
            <a:rect r="r" b="b" t="t" l="l"/>
            <a:pathLst>
              <a:path h="3848639" w="10636943">
                <a:moveTo>
                  <a:pt x="0" y="0"/>
                </a:moveTo>
                <a:lnTo>
                  <a:pt x="10636943" y="0"/>
                </a:lnTo>
                <a:lnTo>
                  <a:pt x="10636943" y="3848639"/>
                </a:lnTo>
                <a:lnTo>
                  <a:pt x="0" y="384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94365" y="2640859"/>
            <a:ext cx="9402865" cy="742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Each user-</a:t>
            </a: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selected mood is mapped to a predefined set of colors.</a:t>
            </a: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 system supports four moods: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Happy → warm/bright colors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Calm → pastel colors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Confident → dark bold colors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Relaxed → neutral soft colors</a:t>
            </a:r>
          </a:p>
          <a:p>
            <a:pPr algn="l">
              <a:lnSpc>
                <a:spcPts val="4345"/>
              </a:lnSpc>
            </a:pPr>
          </a:p>
          <a:p>
            <a:pPr algn="l">
              <a:lnSpc>
                <a:spcPts val="4345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These palettes guide the final outfit design.</a:t>
            </a:r>
          </a:p>
          <a:p>
            <a:pPr algn="l">
              <a:lnSpc>
                <a:spcPts val="434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1765737">
            <a:off x="13145820" y="6959645"/>
            <a:ext cx="10636943" cy="3848639"/>
          </a:xfrm>
          <a:custGeom>
            <a:avLst/>
            <a:gdLst/>
            <a:ahLst/>
            <a:cxnLst/>
            <a:rect r="r" b="b" t="t" l="l"/>
            <a:pathLst>
              <a:path h="3848639" w="10636943">
                <a:moveTo>
                  <a:pt x="0" y="0"/>
                </a:moveTo>
                <a:lnTo>
                  <a:pt x="10636944" y="0"/>
                </a:lnTo>
                <a:lnTo>
                  <a:pt x="10636944" y="3848640"/>
                </a:lnTo>
                <a:lnTo>
                  <a:pt x="0" y="3848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651" y="5643979"/>
            <a:ext cx="7838249" cy="3239986"/>
          </a:xfrm>
          <a:custGeom>
            <a:avLst/>
            <a:gdLst/>
            <a:ahLst/>
            <a:cxnLst/>
            <a:rect r="r" b="b" t="t" l="l"/>
            <a:pathLst>
              <a:path h="3239986" w="7838249">
                <a:moveTo>
                  <a:pt x="0" y="0"/>
                </a:moveTo>
                <a:lnTo>
                  <a:pt x="7838249" y="0"/>
                </a:lnTo>
                <a:lnTo>
                  <a:pt x="7838249" y="3239986"/>
                </a:lnTo>
                <a:lnTo>
                  <a:pt x="0" y="3239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017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651" y="1835638"/>
            <a:ext cx="7855614" cy="3247164"/>
          </a:xfrm>
          <a:custGeom>
            <a:avLst/>
            <a:gdLst/>
            <a:ahLst/>
            <a:cxnLst/>
            <a:rect r="r" b="b" t="t" l="l"/>
            <a:pathLst>
              <a:path h="3247164" w="7855614">
                <a:moveTo>
                  <a:pt x="0" y="0"/>
                </a:moveTo>
                <a:lnTo>
                  <a:pt x="7855615" y="0"/>
                </a:lnTo>
                <a:lnTo>
                  <a:pt x="7855615" y="3247165"/>
                </a:lnTo>
                <a:lnTo>
                  <a:pt x="0" y="32471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6288" b="-15940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85390" y="12353"/>
            <a:ext cx="9350873" cy="244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7"/>
              </a:lnSpc>
              <a:spcBef>
                <a:spcPct val="0"/>
              </a:spcBef>
            </a:pPr>
            <a:r>
              <a:rPr lang="en-US" b="true" sz="4583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STAGE 5 — MOOD-BASED COLOR MAPPING Mood Color Mapping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65737">
            <a:off x="-2601815" y="-403684"/>
            <a:ext cx="10636943" cy="3848639"/>
          </a:xfrm>
          <a:custGeom>
            <a:avLst/>
            <a:gdLst/>
            <a:ahLst/>
            <a:cxnLst/>
            <a:rect r="r" b="b" t="t" l="l"/>
            <a:pathLst>
              <a:path h="3848639" w="10636943">
                <a:moveTo>
                  <a:pt x="0" y="0"/>
                </a:moveTo>
                <a:lnTo>
                  <a:pt x="10636943" y="0"/>
                </a:lnTo>
                <a:lnTo>
                  <a:pt x="10636943" y="3848639"/>
                </a:lnTo>
                <a:lnTo>
                  <a:pt x="0" y="384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94365" y="2640859"/>
            <a:ext cx="8819539" cy="668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This </a:t>
            </a: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stage combines all model outputs to create the final outfit recommendation.</a:t>
            </a:r>
          </a:p>
          <a:p>
            <a:pPr algn="l">
              <a:lnSpc>
                <a:spcPts val="3774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Inp</a:t>
            </a: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uts used:</a:t>
            </a:r>
          </a:p>
          <a:p>
            <a:pPr algn="l">
              <a:lnSpc>
                <a:spcPts val="3774"/>
              </a:lnSpc>
            </a:pPr>
          </a:p>
          <a:p>
            <a:pPr algn="l">
              <a:lnSpc>
                <a:spcPts val="3774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Clothing</a:t>
            </a: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 type prediction</a:t>
            </a:r>
          </a:p>
          <a:p>
            <a:pPr algn="l">
              <a:lnSpc>
                <a:spcPts val="3774"/>
              </a:lnSpc>
            </a:pPr>
          </a:p>
          <a:p>
            <a:pPr algn="l">
              <a:lnSpc>
                <a:spcPts val="3774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Do</a:t>
            </a: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minant clothing colors</a:t>
            </a:r>
          </a:p>
          <a:p>
            <a:pPr algn="l">
              <a:lnSpc>
                <a:spcPts val="3774"/>
              </a:lnSpc>
            </a:pPr>
          </a:p>
          <a:p>
            <a:pPr algn="l">
              <a:lnSpc>
                <a:spcPts val="3774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D</a:t>
            </a: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etected skin undertone</a:t>
            </a:r>
          </a:p>
          <a:p>
            <a:pPr algn="l">
              <a:lnSpc>
                <a:spcPts val="3774"/>
              </a:lnSpc>
            </a:pPr>
          </a:p>
          <a:p>
            <a:pPr algn="l">
              <a:lnSpc>
                <a:spcPts val="3774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Mood-based color palette</a:t>
            </a:r>
          </a:p>
          <a:p>
            <a:pPr algn="l">
              <a:lnSpc>
                <a:spcPts val="3774"/>
              </a:lnSpc>
            </a:pPr>
            <a:r>
              <a:rPr lang="en-US" sz="2715" b="true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The system selects colors and styles that match the user's mood and undertone.</a:t>
            </a:r>
          </a:p>
          <a:p>
            <a:pPr algn="l">
              <a:lnSpc>
                <a:spcPts val="434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1765737">
            <a:off x="13145820" y="6959645"/>
            <a:ext cx="10636943" cy="3848639"/>
          </a:xfrm>
          <a:custGeom>
            <a:avLst/>
            <a:gdLst/>
            <a:ahLst/>
            <a:cxnLst/>
            <a:rect r="r" b="b" t="t" l="l"/>
            <a:pathLst>
              <a:path h="3848639" w="10636943">
                <a:moveTo>
                  <a:pt x="0" y="0"/>
                </a:moveTo>
                <a:lnTo>
                  <a:pt x="10636944" y="0"/>
                </a:lnTo>
                <a:lnTo>
                  <a:pt x="10636944" y="3848640"/>
                </a:lnTo>
                <a:lnTo>
                  <a:pt x="0" y="3848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44714" y="136178"/>
            <a:ext cx="4051806" cy="5228136"/>
          </a:xfrm>
          <a:custGeom>
            <a:avLst/>
            <a:gdLst/>
            <a:ahLst/>
            <a:cxnLst/>
            <a:rect r="r" b="b" t="t" l="l"/>
            <a:pathLst>
              <a:path h="5228136" w="4051806">
                <a:moveTo>
                  <a:pt x="0" y="0"/>
                </a:moveTo>
                <a:lnTo>
                  <a:pt x="4051805" y="0"/>
                </a:lnTo>
                <a:lnTo>
                  <a:pt x="4051805" y="5228137"/>
                </a:lnTo>
                <a:lnTo>
                  <a:pt x="0" y="5228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4714" y="5295965"/>
            <a:ext cx="4051806" cy="4874353"/>
          </a:xfrm>
          <a:custGeom>
            <a:avLst/>
            <a:gdLst/>
            <a:ahLst/>
            <a:cxnLst/>
            <a:rect r="r" b="b" t="t" l="l"/>
            <a:pathLst>
              <a:path h="4874353" w="4051806">
                <a:moveTo>
                  <a:pt x="0" y="0"/>
                </a:moveTo>
                <a:lnTo>
                  <a:pt x="4051805" y="0"/>
                </a:lnTo>
                <a:lnTo>
                  <a:pt x="4051805" y="4874352"/>
                </a:lnTo>
                <a:lnTo>
                  <a:pt x="0" y="4874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85390" y="12353"/>
            <a:ext cx="10424193" cy="325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17"/>
              </a:lnSpc>
            </a:pPr>
            <a:r>
              <a:rPr lang="en-US" sz="4583" b="true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STAGE 6 FINAL OUTFIT RECOMMENDATION ENGINE</a:t>
            </a:r>
          </a:p>
          <a:p>
            <a:pPr algn="l">
              <a:lnSpc>
                <a:spcPts val="6417"/>
              </a:lnSpc>
            </a:pPr>
            <a:r>
              <a:rPr lang="en-US" sz="4583" b="true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Recommendation Logic</a:t>
            </a:r>
          </a:p>
          <a:p>
            <a:pPr algn="l">
              <a:lnSpc>
                <a:spcPts val="641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65190" y="5671975"/>
            <a:ext cx="4641741" cy="7453033"/>
          </a:xfrm>
          <a:custGeom>
            <a:avLst/>
            <a:gdLst/>
            <a:ahLst/>
            <a:cxnLst/>
            <a:rect r="r" b="b" t="t" l="l"/>
            <a:pathLst>
              <a:path h="7453033" w="4641741">
                <a:moveTo>
                  <a:pt x="0" y="0"/>
                </a:moveTo>
                <a:lnTo>
                  <a:pt x="4641741" y="0"/>
                </a:lnTo>
                <a:lnTo>
                  <a:pt x="4641741" y="7453032"/>
                </a:lnTo>
                <a:lnTo>
                  <a:pt x="0" y="7453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-3482734" y="-531956"/>
            <a:ext cx="6347483" cy="5158772"/>
          </a:xfrm>
          <a:custGeom>
            <a:avLst/>
            <a:gdLst/>
            <a:ahLst/>
            <a:cxnLst/>
            <a:rect r="r" b="b" t="t" l="l"/>
            <a:pathLst>
              <a:path h="5158772" w="6347483">
                <a:moveTo>
                  <a:pt x="6347482" y="0"/>
                </a:moveTo>
                <a:lnTo>
                  <a:pt x="0" y="0"/>
                </a:lnTo>
                <a:lnTo>
                  <a:pt x="0" y="5158772"/>
                </a:lnTo>
                <a:lnTo>
                  <a:pt x="6347482" y="5158772"/>
                </a:lnTo>
                <a:lnTo>
                  <a:pt x="63474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18344" y="2047430"/>
            <a:ext cx="13536417" cy="6785129"/>
          </a:xfrm>
          <a:custGeom>
            <a:avLst/>
            <a:gdLst/>
            <a:ahLst/>
            <a:cxnLst/>
            <a:rect r="r" b="b" t="t" l="l"/>
            <a:pathLst>
              <a:path h="6785129" w="13536417">
                <a:moveTo>
                  <a:pt x="0" y="0"/>
                </a:moveTo>
                <a:lnTo>
                  <a:pt x="13536416" y="0"/>
                </a:lnTo>
                <a:lnTo>
                  <a:pt x="13536416" y="6785129"/>
                </a:lnTo>
                <a:lnTo>
                  <a:pt x="0" y="67851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152267" y="255078"/>
            <a:ext cx="11050326" cy="675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8"/>
              </a:lnSpc>
              <a:spcBef>
                <a:spcPct val="0"/>
              </a:spcBef>
            </a:pPr>
            <a:r>
              <a:rPr lang="en-US" b="true" sz="3755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The interface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65190" y="5671975"/>
            <a:ext cx="4641741" cy="7453033"/>
          </a:xfrm>
          <a:custGeom>
            <a:avLst/>
            <a:gdLst/>
            <a:ahLst/>
            <a:cxnLst/>
            <a:rect r="r" b="b" t="t" l="l"/>
            <a:pathLst>
              <a:path h="7453033" w="4641741">
                <a:moveTo>
                  <a:pt x="0" y="0"/>
                </a:moveTo>
                <a:lnTo>
                  <a:pt x="4641741" y="0"/>
                </a:lnTo>
                <a:lnTo>
                  <a:pt x="4641741" y="7453032"/>
                </a:lnTo>
                <a:lnTo>
                  <a:pt x="0" y="7453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211636" y="-2266003"/>
            <a:ext cx="6347483" cy="5158772"/>
          </a:xfrm>
          <a:custGeom>
            <a:avLst/>
            <a:gdLst/>
            <a:ahLst/>
            <a:cxnLst/>
            <a:rect r="r" b="b" t="t" l="l"/>
            <a:pathLst>
              <a:path h="5158772" w="6347483">
                <a:moveTo>
                  <a:pt x="6347483" y="0"/>
                </a:moveTo>
                <a:lnTo>
                  <a:pt x="0" y="0"/>
                </a:lnTo>
                <a:lnTo>
                  <a:pt x="0" y="5158773"/>
                </a:lnTo>
                <a:lnTo>
                  <a:pt x="6347483" y="5158773"/>
                </a:lnTo>
                <a:lnTo>
                  <a:pt x="634748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2532" y="7365073"/>
            <a:ext cx="1909496" cy="599676"/>
            <a:chOff x="0" y="0"/>
            <a:chExt cx="502913" cy="1579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2913" cy="157939"/>
            </a:xfrm>
            <a:custGeom>
              <a:avLst/>
              <a:gdLst/>
              <a:ahLst/>
              <a:cxnLst/>
              <a:rect r="r" b="b" t="t" l="l"/>
              <a:pathLst>
                <a:path h="157939" w="502913">
                  <a:moveTo>
                    <a:pt x="44599" y="0"/>
                  </a:moveTo>
                  <a:lnTo>
                    <a:pt x="458314" y="0"/>
                  </a:lnTo>
                  <a:cubicBezTo>
                    <a:pt x="482945" y="0"/>
                    <a:pt x="502913" y="19968"/>
                    <a:pt x="502913" y="44599"/>
                  </a:cubicBezTo>
                  <a:lnTo>
                    <a:pt x="502913" y="113341"/>
                  </a:lnTo>
                  <a:cubicBezTo>
                    <a:pt x="502913" y="125169"/>
                    <a:pt x="498214" y="136513"/>
                    <a:pt x="489850" y="144877"/>
                  </a:cubicBezTo>
                  <a:cubicBezTo>
                    <a:pt x="481486" y="153241"/>
                    <a:pt x="470142" y="157939"/>
                    <a:pt x="458314" y="157939"/>
                  </a:cubicBezTo>
                  <a:lnTo>
                    <a:pt x="44599" y="157939"/>
                  </a:lnTo>
                  <a:cubicBezTo>
                    <a:pt x="19968" y="157939"/>
                    <a:pt x="0" y="137972"/>
                    <a:pt x="0" y="113341"/>
                  </a:cubicBezTo>
                  <a:lnTo>
                    <a:pt x="0" y="44599"/>
                  </a:lnTo>
                  <a:cubicBezTo>
                    <a:pt x="0" y="19968"/>
                    <a:pt x="19968" y="0"/>
                    <a:pt x="44599" y="0"/>
                  </a:cubicBezTo>
                  <a:close/>
                </a:path>
              </a:pathLst>
            </a:custGeom>
            <a:solidFill>
              <a:srgbClr val="BF115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502913" cy="262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109262" y="678153"/>
            <a:ext cx="8069475" cy="175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4"/>
              </a:lnSpc>
              <a:spcBef>
                <a:spcPct val="0"/>
              </a:spcBef>
            </a:pPr>
            <a:r>
              <a:rPr lang="en-US" b="true" sz="4910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Discussion, Limitations, and Future Work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86929" y="2897528"/>
            <a:ext cx="2698449" cy="567766"/>
            <a:chOff x="0" y="0"/>
            <a:chExt cx="710702" cy="1495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0703" cy="149535"/>
            </a:xfrm>
            <a:custGeom>
              <a:avLst/>
              <a:gdLst/>
              <a:ahLst/>
              <a:cxnLst/>
              <a:rect r="r" b="b" t="t" l="l"/>
              <a:pathLst>
                <a:path h="149535" w="710703">
                  <a:moveTo>
                    <a:pt x="31559" y="0"/>
                  </a:moveTo>
                  <a:lnTo>
                    <a:pt x="679143" y="0"/>
                  </a:lnTo>
                  <a:cubicBezTo>
                    <a:pt x="696573" y="0"/>
                    <a:pt x="710703" y="14130"/>
                    <a:pt x="710703" y="31559"/>
                  </a:cubicBezTo>
                  <a:lnTo>
                    <a:pt x="710703" y="117976"/>
                  </a:lnTo>
                  <a:cubicBezTo>
                    <a:pt x="710703" y="135406"/>
                    <a:pt x="696573" y="149535"/>
                    <a:pt x="679143" y="149535"/>
                  </a:cubicBezTo>
                  <a:lnTo>
                    <a:pt x="31559" y="149535"/>
                  </a:lnTo>
                  <a:cubicBezTo>
                    <a:pt x="14130" y="149535"/>
                    <a:pt x="0" y="135406"/>
                    <a:pt x="0" y="117976"/>
                  </a:cubicBezTo>
                  <a:lnTo>
                    <a:pt x="0" y="31559"/>
                  </a:lnTo>
                  <a:cubicBezTo>
                    <a:pt x="0" y="14130"/>
                    <a:pt x="14130" y="0"/>
                    <a:pt x="31559" y="0"/>
                  </a:cubicBezTo>
                  <a:close/>
                </a:path>
              </a:pathLst>
            </a:custGeom>
            <a:solidFill>
              <a:srgbClr val="BF115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710702" cy="254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2532" y="5143500"/>
            <a:ext cx="2858842" cy="633317"/>
            <a:chOff x="0" y="0"/>
            <a:chExt cx="752946" cy="1667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2946" cy="166799"/>
            </a:xfrm>
            <a:custGeom>
              <a:avLst/>
              <a:gdLst/>
              <a:ahLst/>
              <a:cxnLst/>
              <a:rect r="r" b="b" t="t" l="l"/>
              <a:pathLst>
                <a:path h="166799" w="752946">
                  <a:moveTo>
                    <a:pt x="29789" y="0"/>
                  </a:moveTo>
                  <a:lnTo>
                    <a:pt x="723157" y="0"/>
                  </a:lnTo>
                  <a:cubicBezTo>
                    <a:pt x="731058" y="0"/>
                    <a:pt x="738635" y="3138"/>
                    <a:pt x="744221" y="8725"/>
                  </a:cubicBezTo>
                  <a:cubicBezTo>
                    <a:pt x="749808" y="14311"/>
                    <a:pt x="752946" y="21888"/>
                    <a:pt x="752946" y="29789"/>
                  </a:cubicBezTo>
                  <a:lnTo>
                    <a:pt x="752946" y="137011"/>
                  </a:lnTo>
                  <a:cubicBezTo>
                    <a:pt x="752946" y="144911"/>
                    <a:pt x="749808" y="152488"/>
                    <a:pt x="744221" y="158075"/>
                  </a:cubicBezTo>
                  <a:cubicBezTo>
                    <a:pt x="738635" y="163661"/>
                    <a:pt x="731058" y="166799"/>
                    <a:pt x="723157" y="166799"/>
                  </a:cubicBezTo>
                  <a:lnTo>
                    <a:pt x="29789" y="166799"/>
                  </a:lnTo>
                  <a:cubicBezTo>
                    <a:pt x="21888" y="166799"/>
                    <a:pt x="14311" y="163661"/>
                    <a:pt x="8725" y="158075"/>
                  </a:cubicBezTo>
                  <a:cubicBezTo>
                    <a:pt x="3138" y="152488"/>
                    <a:pt x="0" y="144911"/>
                    <a:pt x="0" y="137011"/>
                  </a:cubicBezTo>
                  <a:lnTo>
                    <a:pt x="0" y="29789"/>
                  </a:lnTo>
                  <a:cubicBezTo>
                    <a:pt x="0" y="21888"/>
                    <a:pt x="3138" y="14311"/>
                    <a:pt x="8725" y="8725"/>
                  </a:cubicBezTo>
                  <a:cubicBezTo>
                    <a:pt x="14311" y="3138"/>
                    <a:pt x="21888" y="0"/>
                    <a:pt x="29789" y="0"/>
                  </a:cubicBezTo>
                  <a:close/>
                </a:path>
              </a:pathLst>
            </a:custGeom>
            <a:solidFill>
              <a:srgbClr val="BF115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752946" cy="2715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3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36728" y="2892770"/>
            <a:ext cx="17451272" cy="2411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System Strengt</a:t>
            </a:r>
            <a:r>
              <a:rPr lang="en-US" b="true" sz="2399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hs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b="true" sz="2399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Uniqueness: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 Personalized integration of emotion (Mood) and physical features (Undertone).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b="true" sz="2399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Efficiency: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 Uses a lightweight MobileNetV2 model suitable for rapid inference.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b="true" sz="2399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Interpretability: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 Recommendations are easily traceable back to the user's mood and undertone rules.</a:t>
            </a:r>
          </a:p>
          <a:p>
            <a:pPr algn="l">
              <a:lnSpc>
                <a:spcPts val="383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36728" y="5199725"/>
            <a:ext cx="17451272" cy="192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Current</a:t>
            </a:r>
            <a:r>
              <a:rPr lang="en-US" b="true" sz="2399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 Limitations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b="true" sz="2399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Dataset Size: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 Still a constraint, which impacts the model's ability to generalize to rare clothing types.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-US" b="true" sz="2399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 Mood Input: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 Currently requires manual selection (not automatic).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n-US" b="true" sz="2399">
                <a:solidFill>
                  <a:srgbClr val="2F2E2E"/>
                </a:solidFill>
                <a:latin typeface="Roboto Bold"/>
                <a:ea typeface="Roboto Bold"/>
                <a:cs typeface="Roboto Bold"/>
                <a:sym typeface="Roboto Bold"/>
              </a:rPr>
              <a:t>Undertone Detection: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 The current image processing logic is sensitive to varying lighting conditions.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6728" y="7389495"/>
            <a:ext cx="15990201" cy="289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399" b="true">
                <a:solidFill>
                  <a:srgbClr val="F1F1F1"/>
                </a:solidFill>
                <a:latin typeface="Roboto Bold"/>
                <a:ea typeface="Roboto Bold"/>
                <a:cs typeface="Roboto Bold"/>
                <a:sym typeface="Roboto Bold"/>
              </a:rPr>
              <a:t>Future Work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Integrate</a:t>
            </a: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 Automatic Mood Detection using Facial Expression Recognition from the user's selfie.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Train a dedicated CNN model for robust skin tone classification.</a:t>
            </a:r>
          </a:p>
          <a:p>
            <a:pPr algn="l">
              <a:lnSpc>
                <a:spcPts val="3839"/>
              </a:lnSpc>
            </a:pPr>
            <a:r>
              <a:rPr lang="en-US" sz="2399">
                <a:solidFill>
                  <a:srgbClr val="2F2E2E"/>
                </a:solidFill>
                <a:latin typeface="Roboto"/>
                <a:ea typeface="Roboto"/>
                <a:cs typeface="Roboto"/>
                <a:sym typeface="Roboto"/>
              </a:rPr>
              <a:t>• Expand the dataset and potentially move from a rule-based system to a Learned Recommendation System that adapts to individual user style.</a:t>
            </a:r>
          </a:p>
          <a:p>
            <a:pPr algn="l">
              <a:lnSpc>
                <a:spcPts val="3839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7449" y="-1924538"/>
            <a:ext cx="20500217" cy="4630484"/>
          </a:xfrm>
          <a:custGeom>
            <a:avLst/>
            <a:gdLst/>
            <a:ahLst/>
            <a:cxnLst/>
            <a:rect r="r" b="b" t="t" l="l"/>
            <a:pathLst>
              <a:path h="4630484" w="20500217">
                <a:moveTo>
                  <a:pt x="0" y="0"/>
                </a:moveTo>
                <a:lnTo>
                  <a:pt x="20500217" y="0"/>
                </a:lnTo>
                <a:lnTo>
                  <a:pt x="20500217" y="4630484"/>
                </a:lnTo>
                <a:lnTo>
                  <a:pt x="0" y="4630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3865092" y="2266032"/>
            <a:ext cx="11356602" cy="7581299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342" y="1255274"/>
            <a:ext cx="18055315" cy="76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39"/>
              </a:lnSpc>
            </a:pPr>
            <a:r>
              <a:rPr lang="en-US" b="true" sz="4816">
                <a:solidFill>
                  <a:srgbClr val="BF115A"/>
                </a:solidFill>
                <a:latin typeface="Poppins Bold"/>
                <a:ea typeface="Poppins Bold"/>
                <a:cs typeface="Poppins Bold"/>
                <a:sym typeface="Poppins Bold"/>
              </a:rPr>
              <a:t> Live Demonstration and Q&amp;A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0778">
            <a:off x="0" y="-1958828"/>
            <a:ext cx="18288000" cy="6816436"/>
          </a:xfrm>
          <a:custGeom>
            <a:avLst/>
            <a:gdLst/>
            <a:ahLst/>
            <a:cxnLst/>
            <a:rect r="r" b="b" t="t" l="l"/>
            <a:pathLst>
              <a:path h="6816436" w="18288000">
                <a:moveTo>
                  <a:pt x="0" y="0"/>
                </a:moveTo>
                <a:lnTo>
                  <a:pt x="18288000" y="0"/>
                </a:lnTo>
                <a:lnTo>
                  <a:pt x="18288000" y="6816436"/>
                </a:lnTo>
                <a:lnTo>
                  <a:pt x="0" y="6816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5544" y="4453890"/>
            <a:ext cx="11996912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b="true" sz="7200">
                <a:solidFill>
                  <a:srgbClr val="BF115A"/>
                </a:solidFill>
                <a:latin typeface="Roboto Bold"/>
                <a:ea typeface="Roboto Bold"/>
                <a:cs typeface="Roboto Bold"/>
                <a:sym typeface="Roboto Bold"/>
              </a:rPr>
              <a:t>Thank you  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500778">
            <a:off x="0" y="6434708"/>
            <a:ext cx="18288000" cy="6816436"/>
          </a:xfrm>
          <a:custGeom>
            <a:avLst/>
            <a:gdLst/>
            <a:ahLst/>
            <a:cxnLst/>
            <a:rect r="r" b="b" t="t" l="l"/>
            <a:pathLst>
              <a:path h="6816436" w="18288000">
                <a:moveTo>
                  <a:pt x="18288000" y="6816437"/>
                </a:moveTo>
                <a:lnTo>
                  <a:pt x="0" y="6816437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68164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DAG5sEII5vY</dc:identifier>
  <dcterms:modified xsi:type="dcterms:W3CDTF">2011-08-01T06:04:30Z</dcterms:modified>
  <cp:revision>1</cp:revision>
  <dc:title>Pink and Peach Simple lined Digital Marketing Strategy Presentation</dc:title>
</cp:coreProperties>
</file>